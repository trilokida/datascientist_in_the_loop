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F77B4"/>
                </a:solidFill>
              </a:defRPr>
            </a:pPr>
            <a:r>
              <a:t>EDA Pipeline with Agentic Workflow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800"/>
            </a:pPr>
            <a:r>
              <a:t>Intelligent, Production-Ready Exploratory Data Analysis</a:t>
            </a:r>
          </a:p>
          <a:p>
            <a:pPr algn="ctr">
              <a:defRPr sz="1800"/>
            </a:pPr>
            <a:r>
              <a:t>Powered by LangGraph, Groq, and Open-Source Tools</a:t>
            </a:r>
          </a:p>
          <a:p>
            <a:pPr algn="ctr">
              <a:defRPr sz="1800"/>
            </a:pPr>
          </a:p>
          <a:p>
            <a:pPr algn="ctr">
              <a:defRPr sz="1800"/>
            </a:pPr>
            <a:r>
              <a:t>Version 3.3 -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Project Overview</a:t>
            </a:r>
          </a:p>
          <a:p>
            <a:pPr>
              <a:defRPr sz="2200"/>
            </a:pPr>
            <a:r>
              <a:t>Key Features &amp; Latest Updates</a:t>
            </a:r>
          </a:p>
          <a:p>
            <a:pPr>
              <a:defRPr sz="2200"/>
            </a:pPr>
            <a:r>
              <a:t>Architecture &amp; Tech Stack</a:t>
            </a:r>
          </a:p>
          <a:p>
            <a:pPr>
              <a:defRPr sz="2200"/>
            </a:pPr>
            <a:r>
              <a:t>6 Specialized Agents</a:t>
            </a:r>
          </a:p>
          <a:p>
            <a:pPr>
              <a:defRPr sz="2200"/>
            </a:pPr>
            <a:r>
              <a:t>Human-in-the-Loop Approval Gates</a:t>
            </a:r>
          </a:p>
          <a:p>
            <a:pPr>
              <a:defRPr sz="2200"/>
            </a:pPr>
            <a:r>
              <a:t>Transformation &amp; Export Capabilities</a:t>
            </a:r>
          </a:p>
          <a:p>
            <a:pPr>
              <a:defRPr sz="2200"/>
            </a:pPr>
            <a:r>
              <a:t>Demo &amp; Use Cases</a:t>
            </a:r>
          </a:p>
          <a:p>
            <a:pPr>
              <a:defRPr sz="2200"/>
            </a:pPr>
            <a:r>
              <a:t>Future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400" b="1"/>
            </a:pPr>
            <a:r>
              <a:t>What is EDA Pipeline?</a:t>
            </a:r>
          </a:p>
          <a:p>
            <a:pPr>
              <a:spcAft>
                <a:spcPts val="800"/>
              </a:spcAft>
              <a:defRPr sz="1800"/>
            </a:pPr>
            <a:r>
              <a:t>An intelligent, production-ready EDA pipeline powered by AI agents</a:t>
            </a:r>
          </a:p>
          <a:p>
            <a:pPr>
              <a:spcAft>
                <a:spcPts val="800"/>
              </a:spcAft>
              <a:defRPr sz="1800"/>
            </a:pPr>
            <a:r>
              <a:t>Automated exploratory data analysis with explainable AI</a:t>
            </a:r>
          </a:p>
          <a:p>
            <a:pPr>
              <a:spcAft>
                <a:spcPts val="800"/>
              </a:spcAft>
              <a:defRPr sz="1800"/>
            </a:pPr>
            <a:r>
              <a:t>Complete suite of 6 specialized agents for comprehensive analysis</a:t>
            </a:r>
          </a:p>
          <a:p>
            <a:pPr>
              <a:spcAft>
                <a:spcPts val="800"/>
              </a:spcAft>
              <a:defRPr sz="1800"/>
            </a:pPr>
            <a:r>
              <a:t>Interactive Streamlit UI with real-time progress tracking</a:t>
            </a:r>
          </a:p>
          <a:p>
            <a:pPr>
              <a:spcAft>
                <a:spcPts val="800"/>
              </a:spcAft>
              <a:defRPr sz="1800"/>
            </a:pPr>
            <a:r>
              <a:t>Supports CSV and Excel files (.xlsx, .xls)</a:t>
            </a:r>
          </a:p>
          <a:p>
            <a:pPr>
              <a:spcAft>
                <a:spcPts val="800"/>
              </a:spcAft>
              <a:defRPr sz="1800"/>
            </a:pPr>
            <a:r>
              <a:t>Hybrid scaling: handles small to large datasets intelligently</a:t>
            </a:r>
          </a:p>
          <a:p>
            <a:pPr>
              <a:spcAft>
                <a:spcPts val="800"/>
              </a:spcAft>
              <a:defRPr sz="1800"/>
            </a:pPr>
            <a:r>
              <a:t>Human-in-the-loop workflow with approval gates</a:t>
            </a:r>
          </a:p>
          <a:p>
            <a:pPr>
              <a:spcAft>
                <a:spcPts val="800"/>
              </a:spcAft>
              <a:defRPr sz="1800"/>
            </a:pPr>
            <a:r>
              <a:t>Export capabilities: HTML reports, JSON data, transformed CSV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- Version 3.3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2000" b="1">
                <a:solidFill>
                  <a:srgbClr val="1F77B4"/>
                </a:solidFill>
              </a:defRPr>
            </a:pPr>
            <a:r>
              <a:t>NEW in v3.3: Excel File Support</a:t>
            </a:r>
          </a:p>
          <a:p>
            <a:pPr lvl="1">
              <a:spcAft>
                <a:spcPts val="400"/>
              </a:spcAft>
              <a:defRPr sz="1600"/>
            </a:pPr>
            <a:r>
              <a:t>Support for .xlsx and .xls files</a:t>
            </a:r>
          </a:p>
          <a:p>
            <a:pPr lvl="1">
              <a:spcAft>
                <a:spcPts val="400"/>
              </a:spcAft>
              <a:defRPr sz="1600"/>
            </a:pPr>
            <a:r>
              <a:t>Automatic detection and loading of first sheet</a:t>
            </a:r>
          </a:p>
          <a:p>
            <a:pPr lvl="1">
              <a:spcAft>
                <a:spcPts val="1200"/>
              </a:spcAft>
              <a:defRPr sz="1600"/>
            </a:pPr>
            <a:r>
              <a:t>Seamless integration with all agents</a:t>
            </a:r>
          </a:p>
          <a:p>
            <a:pPr>
              <a:spcAft>
                <a:spcPts val="800"/>
              </a:spcAft>
              <a:defRPr sz="2000" b="1">
                <a:solidFill>
                  <a:srgbClr val="1F77B4"/>
                </a:solidFill>
              </a:defRPr>
            </a:pPr>
            <a:r>
              <a:t>Human-in-the-Loop Approval Gates (v3.2)</a:t>
            </a:r>
          </a:p>
          <a:p>
            <a:pPr lvl="1">
              <a:spcAft>
                <a:spcPts val="400"/>
              </a:spcAft>
              <a:defRPr sz="1600"/>
            </a:pPr>
            <a:r>
              <a:t>Review and approve each agent before proceeding</a:t>
            </a:r>
          </a:p>
          <a:p>
            <a:pPr lvl="1">
              <a:spcAft>
                <a:spcPts val="400"/>
              </a:spcAft>
              <a:defRPr sz="1600"/>
            </a:pPr>
            <a:r>
              <a:t>4 decision options: Approve, Retry, Skip, Stop</a:t>
            </a:r>
          </a:p>
          <a:p>
            <a:pPr lvl="1">
              <a:spcAft>
                <a:spcPts val="1200"/>
              </a:spcAft>
              <a:defRPr sz="1600"/>
            </a:pPr>
            <a:r>
              <a:t>Complete decision history tracking</a:t>
            </a:r>
          </a:p>
          <a:p>
            <a:pPr>
              <a:spcAft>
                <a:spcPts val="800"/>
              </a:spcAft>
              <a:defRPr sz="2000" b="1">
                <a:solidFill>
                  <a:srgbClr val="1F77B4"/>
                </a:solidFill>
              </a:defRPr>
            </a:pPr>
            <a:r>
              <a:t>Multi-Transformation Selection (v3.1)</a:t>
            </a:r>
          </a:p>
          <a:p>
            <a:pPr lvl="1">
              <a:spcAft>
                <a:spcPts val="400"/>
              </a:spcAft>
              <a:defRPr sz="1600"/>
            </a:pPr>
            <a:r>
              <a:t>Select and apply multiple transformations at once</a:t>
            </a:r>
          </a:p>
          <a:p>
            <a:pPr lvl="1">
              <a:spcAft>
                <a:spcPts val="400"/>
              </a:spcAft>
              <a:defRPr sz="1600"/>
            </a:pPr>
            <a:r>
              <a:t>Preview combined effects before applying</a:t>
            </a:r>
          </a:p>
          <a:p>
            <a:pPr lvl="1">
              <a:spcAft>
                <a:spcPts val="1200"/>
              </a:spcAft>
              <a:defRPr sz="1600"/>
            </a:pPr>
            <a:r>
              <a:t>Export transformed CSV for downstream use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br/>
            <a:pPr>
              <a:defRPr sz="1400">
                <a:latin typeface="Courier New"/>
              </a:defRPr>
            </a:pPr>
            <a:r>
              <a:t>┌─────────────────┐</a:t>
            </a:r>
            <a:br/>
            <a:r>
              <a:t>│  Streamlit UI   │  ← Interactive interface with progress tracking</a:t>
            </a:r>
            <a:br/>
            <a:r>
              <a:t>└────────┬────────┘</a:t>
            </a:r>
            <a:br/>
            <a:r>
              <a:t>         │</a:t>
            </a:r>
            <a:br/>
            <a:r>
              <a:t>┌────────▼────────┐</a:t>
            </a:r>
            <a:br/>
            <a:r>
              <a:t>│  LangGraph      │  ← State machine orchestration</a:t>
            </a:r>
            <a:br/>
            <a:r>
              <a:t>│  Orchestration  │</a:t>
            </a:r>
            <a:br/>
            <a:r>
              <a:t>└────────┬────────┘</a:t>
            </a:r>
            <a:br/>
            <a:r>
              <a:t>         │</a:t>
            </a:r>
            <a:br/>
            <a:r>
              <a:t>┌────────▼────────────────────────────────────────────┐</a:t>
            </a:r>
            <a:br/>
            <a:r>
              <a:t>│              Specialized Agents                      │</a:t>
            </a:r>
            <a:br/>
            <a:r>
              <a:t>├──────────┬──────────┬──────────┬──────────┬─────────┤</a:t>
            </a:r>
            <a:br/>
            <a:r>
              <a:t>│ Profile  │ Quality  │Transform │Visualize │Features │</a:t>
            </a:r>
            <a:br/>
            <a:r>
              <a:t>│  Agent   │  Agent   │  Agent   │  Agent   │ Agent   │</a:t>
            </a:r>
            <a:br/>
            <a:r>
              <a:t>│          │          │          │          │  Stat   │</a:t>
            </a:r>
            <a:br/>
            <a:r>
              <a:t>└──────────┴──────────┴──────────┴──────────┴─────────┘</a:t>
            </a:r>
            <a:br/>
            <a:r>
              <a:t>         │</a:t>
            </a:r>
            <a:br/>
            <a:r>
              <a:t>┌────────▼────────┐</a:t>
            </a:r>
            <a:br/>
            <a:r>
              <a:t>│   Data Layer    │  ← Pandas/DuckDB with intelligent switching</a:t>
            </a:r>
            <a:br/>
            <a:r>
              <a:t>└─────────────────┘</a:t>
            </a:r>
            <a:br/>
            <a:r>
              <a:t>  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 Specialized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400"/>
              </a:spcAft>
              <a:defRPr sz="2000" b="1">
                <a:solidFill>
                  <a:srgbClr val="1F77B4"/>
                </a:solidFill>
              </a:defRPr>
            </a:pPr>
            <a:r>
              <a:t>ProfileAgent</a:t>
            </a:r>
          </a:p>
          <a:p>
            <a:pPr lvl="1">
              <a:spcAft>
                <a:spcPts val="1200"/>
              </a:spcAft>
              <a:defRPr sz="1600"/>
            </a:pPr>
            <a:r>
              <a:t>Dataset profiling, structure, column types, basic statistics</a:t>
            </a:r>
          </a:p>
          <a:p>
            <a:pPr>
              <a:spcAft>
                <a:spcPts val="400"/>
              </a:spcAft>
              <a:defRPr sz="2000" b="1">
                <a:solidFill>
                  <a:srgbClr val="1F77B4"/>
                </a:solidFill>
              </a:defRPr>
            </a:pPr>
            <a:r>
              <a:t>QualityAgent</a:t>
            </a:r>
          </a:p>
          <a:p>
            <a:pPr lvl="1">
              <a:spcAft>
                <a:spcPts val="1200"/>
              </a:spcAft>
              <a:defRPr sz="1600"/>
            </a:pPr>
            <a:r>
              <a:t>Data quality assessment, missing values, duplicates, outliers</a:t>
            </a:r>
          </a:p>
          <a:p>
            <a:pPr>
              <a:spcAft>
                <a:spcPts val="400"/>
              </a:spcAft>
              <a:defRPr sz="2000" b="1">
                <a:solidFill>
                  <a:srgbClr val="1F77B4"/>
                </a:solidFill>
              </a:defRPr>
            </a:pPr>
            <a:r>
              <a:t>TransformAgent</a:t>
            </a:r>
          </a:p>
          <a:p>
            <a:pPr lvl="1">
              <a:spcAft>
                <a:spcPts val="1200"/>
              </a:spcAft>
              <a:defRPr sz="1600"/>
            </a:pPr>
            <a:r>
              <a:t>Data cleaning, imputation, encoding, scaling, transformations</a:t>
            </a:r>
          </a:p>
          <a:p>
            <a:pPr>
              <a:spcAft>
                <a:spcPts val="400"/>
              </a:spcAft>
              <a:defRPr sz="2000" b="1">
                <a:solidFill>
                  <a:srgbClr val="1F77B4"/>
                </a:solidFill>
              </a:defRPr>
            </a:pPr>
            <a:r>
              <a:t>VisualizationAgent</a:t>
            </a:r>
          </a:p>
          <a:p>
            <a:pPr lvl="1">
              <a:spcAft>
                <a:spcPts val="1200"/>
              </a:spcAft>
              <a:defRPr sz="1600"/>
            </a:pPr>
            <a:r>
              <a:t>Automatic chart generation, distributions, correlations</a:t>
            </a:r>
          </a:p>
          <a:p>
            <a:pPr>
              <a:spcAft>
                <a:spcPts val="400"/>
              </a:spcAft>
              <a:defRPr sz="2000" b="1">
                <a:solidFill>
                  <a:srgbClr val="1F77B4"/>
                </a:solidFill>
              </a:defRPr>
            </a:pPr>
            <a:r>
              <a:t>FeatureAgent</a:t>
            </a:r>
          </a:p>
          <a:p>
            <a:pPr lvl="1">
              <a:spcAft>
                <a:spcPts val="1200"/>
              </a:spcAft>
              <a:defRPr sz="1600"/>
            </a:pPr>
            <a:r>
              <a:t>Feature importance, correlation analysis, engineering suggestions</a:t>
            </a:r>
          </a:p>
          <a:p>
            <a:pPr>
              <a:spcAft>
                <a:spcPts val="400"/>
              </a:spcAft>
              <a:defRPr sz="2000" b="1">
                <a:solidFill>
                  <a:srgbClr val="1F77B4"/>
                </a:solidFill>
              </a:defRPr>
            </a:pPr>
            <a:r>
              <a:t>StatAgent</a:t>
            </a:r>
          </a:p>
          <a:p>
            <a:pPr lvl="1">
              <a:spcAft>
                <a:spcPts val="1200"/>
              </a:spcAft>
              <a:defRPr sz="1600"/>
            </a:pPr>
            <a:r>
              <a:t>Statistical testing, normality tests, hypothesis testing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ProfileAgent - Dataset Profiling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 b="1"/>
            </a:pPr>
            <a:r>
              <a:t>Capabilities:</a:t>
            </a:r>
          </a:p>
          <a:p>
            <a:pPr>
              <a:defRPr sz="1800"/>
            </a:pPr>
            <a:r>
              <a:t>Dataset shape and structure analysis</a:t>
            </a:r>
          </a:p>
          <a:p>
            <a:pPr>
              <a:defRPr sz="1800"/>
            </a:pPr>
            <a:r>
              <a:t>Column type detection (numeric, categorical, datetime)</a:t>
            </a:r>
          </a:p>
          <a:p>
            <a:pPr>
              <a:defRPr sz="1800"/>
            </a:pPr>
            <a:r>
              <a:t>Memory usage analysis</a:t>
            </a:r>
          </a:p>
          <a:p>
            <a:pPr>
              <a:defRPr sz="1800"/>
            </a:pPr>
            <a:r>
              <a:t>Basic statistics per column (mean, median, std, min, max)</a:t>
            </a:r>
          </a:p>
          <a:p>
            <a:pPr>
              <a:defRPr sz="1800"/>
            </a:pPr>
            <a:r>
              <a:t>Cardinality analysis</a:t>
            </a:r>
          </a:p>
          <a:p>
            <a:pPr>
              <a:defRPr sz="1800"/>
            </a:pPr>
            <a:r>
              <a:t>Missing value detection</a:t>
            </a:r>
          </a:p>
          <a:p>
            <a:pPr>
              <a:defRPr sz="1800"/>
            </a:pPr>
            <a:r>
              <a:t>Issue identification (high missing, high/low cardinality)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QualityAgent - Data Quality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 b="1"/>
            </a:pPr>
            <a:r>
              <a:t>Features:</a:t>
            </a:r>
          </a:p>
          <a:p>
            <a:pPr>
              <a:defRPr sz="1800"/>
            </a:pPr>
            <a:r>
              <a:t>Missing value detection and pattern analysis</a:t>
            </a:r>
          </a:p>
          <a:p>
            <a:pPr>
              <a:defRPr sz="1800"/>
            </a:pPr>
            <a:r>
              <a:t>Duplicate row identification</a:t>
            </a:r>
          </a:p>
          <a:p>
            <a:pPr>
              <a:defRPr sz="1800"/>
            </a:pPr>
            <a:r>
              <a:t>Outlier detection using IQR method</a:t>
            </a:r>
          </a:p>
          <a:p>
            <a:pPr>
              <a:defRPr sz="1800"/>
            </a:pPr>
            <a:r>
              <a:t>Data quality scoring</a:t>
            </a:r>
          </a:p>
          <a:p>
            <a:pPr>
              <a:defRPr sz="1800"/>
            </a:pPr>
            <a:r>
              <a:t>Interactive visualizations:</a:t>
            </a:r>
          </a:p>
          <a:p>
            <a:pPr>
              <a:defRPr sz="1800"/>
            </a:pPr>
            <a:r>
              <a:t>  • Missing value heatmaps</a:t>
            </a:r>
          </a:p>
          <a:p>
            <a:pPr>
              <a:defRPr sz="1800"/>
            </a:pPr>
            <a:r>
              <a:t>  • Outlier detection box plots</a:t>
            </a:r>
          </a:p>
          <a:p>
            <a:pPr>
              <a:defRPr sz="1800"/>
            </a:pPr>
            <a:r>
              <a:t>  • Duplicate analysis gauge charts</a:t>
            </a:r>
          </a:p>
          <a:p>
            <a:pPr>
              <a:defRPr sz="1800"/>
            </a:pPr>
            <a:r>
              <a:t>Data type inconsistency detection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TransformAgent - Data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 b="1"/>
            </a:pPr>
            <a:r>
              <a:t>Transformation Types:</a:t>
            </a:r>
          </a:p>
          <a:p>
            <a:pPr>
              <a:defRPr sz="1600"/>
            </a:pPr>
            <a:r>
              <a:t>Missing value handling (drop, impute median/mode/constant)</a:t>
            </a:r>
          </a:p>
          <a:p>
            <a:pPr>
              <a:defRPr sz="1600"/>
            </a:pPr>
            <a:r>
              <a:t>Outlier handling (capping, removal)</a:t>
            </a:r>
          </a:p>
          <a:p>
            <a:pPr>
              <a:defRPr sz="1600"/>
            </a:pPr>
            <a:r>
              <a:t>Categorical encoding (one-hot, label encoding)</a:t>
            </a:r>
          </a:p>
          <a:p>
            <a:pPr>
              <a:defRPr sz="1600"/>
            </a:pPr>
            <a:r>
              <a:t>Numeric scaling (standard, min-max)</a:t>
            </a:r>
          </a:p>
          <a:p>
            <a:pPr>
              <a:defRPr sz="1600"/>
            </a:pPr>
            <a:r>
              <a:t>Data type conversions</a:t>
            </a:r>
          </a:p>
          <a:p>
            <a:pPr>
              <a:defRPr sz="1600"/>
            </a:pPr>
            <a:r>
              <a:t>Deduplication</a:t>
            </a:r>
          </a:p>
          <a:p>
            <a:pPr>
              <a:defRPr sz="1600"/>
            </a:pPr>
            <a:r>
              <a:t>Cardinality reduction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NEW Features:</a:t>
            </a:r>
          </a:p>
          <a:p>
            <a:pPr>
              <a:defRPr sz="1600"/>
            </a:pPr>
            <a:r>
              <a:t>✓ Multi-transformation selection</a:t>
            </a:r>
          </a:p>
          <a:p>
            <a:pPr>
              <a:defRPr sz="1600"/>
            </a:pPr>
            <a:r>
              <a:t>✓ Before/after comparison preview</a:t>
            </a:r>
          </a:p>
          <a:p>
            <a:pPr>
              <a:defRPr sz="1600"/>
            </a:pPr>
            <a:r>
              <a:t>✓ Apply to full dataset with progress tracking</a:t>
            </a:r>
          </a:p>
          <a:p>
            <a:pPr>
              <a:defRPr sz="1600"/>
            </a:pPr>
            <a:r>
              <a:t>✓ Export transformed CSV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Human-in-the-Loop Approval Gates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 b="1"/>
            </a:pPr>
            <a:r>
              <a:t>What are Approval Gates?</a:t>
            </a:r>
          </a:p>
          <a:p>
            <a:pPr>
              <a:defRPr sz="1600"/>
            </a:pPr>
            <a:r>
              <a:t>Pause workflow after each agent for human review</a:t>
            </a:r>
          </a:p>
          <a:p>
            <a:pPr>
              <a:defRPr sz="1600"/>
            </a:pPr>
            <a:r>
              <a:t>Review confidence scores, issues found, and recommendations</a:t>
            </a:r>
          </a:p>
          <a:p>
            <a:pPr>
              <a:defRPr sz="1600"/>
            </a:pPr>
            <a:r>
              <a:t>Make informed decisions before proceeding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4 Decision Options:</a:t>
            </a:r>
          </a:p>
          <a:p>
            <a:pPr>
              <a:defRPr sz="1600"/>
            </a:pPr>
            <a:r>
              <a:t>  ✅ Approve - Continue to next agent</a:t>
            </a:r>
          </a:p>
          <a:p>
            <a:pPr>
              <a:defRPr sz="1600"/>
            </a:pPr>
            <a:r>
              <a:t>  🔄 Retry - Re-run current agent</a:t>
            </a:r>
          </a:p>
          <a:p>
            <a:pPr>
              <a:defRPr sz="1600"/>
            </a:pPr>
            <a:r>
              <a:t>  ⏩ Skip - Move to next agent without applying changes</a:t>
            </a:r>
          </a:p>
          <a:p>
            <a:pPr>
              <a:defRPr sz="1600"/>
            </a:pPr>
            <a:r>
              <a:t>  ⏹️ Stop - End workflow immediately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Benefits:</a:t>
            </a:r>
          </a:p>
          <a:p>
            <a:pPr>
              <a:defRPr sz="1600"/>
            </a:pPr>
            <a:r>
              <a:t>• Critical analysis control</a:t>
            </a:r>
          </a:p>
          <a:p>
            <a:pPr>
              <a:defRPr sz="1600"/>
            </a:pPr>
            <a:r>
              <a:t>• Compliance and auditability</a:t>
            </a:r>
          </a:p>
          <a:p>
            <a:pPr>
              <a:defRPr sz="1600"/>
            </a:pPr>
            <a:r>
              <a:t>• Learning and understanding workflow</a:t>
            </a:r>
          </a:p>
          <a:p>
            <a:pPr>
              <a:defRPr sz="1600"/>
            </a:pPr>
            <a:r>
              <a:t>• Complete decision history tracking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Available Workflows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 b="1">
                <a:solidFill>
                  <a:srgbClr val="1F77B4"/>
                </a:solidFill>
              </a:defRPr>
            </a:pPr>
            <a:r>
              <a:t>Quick Analysis</a:t>
            </a:r>
          </a:p>
          <a:p>
            <a:pPr lvl="1">
              <a:spcAft>
                <a:spcPts val="1200"/>
              </a:spcAft>
              <a:defRPr sz="1600"/>
            </a:pPr>
            <a:r>
              <a:t>All 6 agents, comprehensive overview, ~5-10 minutes</a:t>
            </a:r>
          </a:p>
          <a:p>
            <a:pPr>
              <a:defRPr sz="2200" b="1">
                <a:solidFill>
                  <a:srgbClr val="1F77B4"/>
                </a:solidFill>
              </a:defRPr>
            </a:pPr>
            <a:r>
              <a:t>Deep Dive</a:t>
            </a:r>
          </a:p>
          <a:p>
            <a:pPr lvl="1">
              <a:spcAft>
                <a:spcPts val="1200"/>
              </a:spcAft>
              <a:defRPr sz="1600"/>
            </a:pPr>
            <a:r>
              <a:t>5 agents (no transform), thorough quality assessment</a:t>
            </a:r>
          </a:p>
          <a:p>
            <a:pPr>
              <a:defRPr sz="2200" b="1">
                <a:solidFill>
                  <a:srgbClr val="1F77B4"/>
                </a:solidFill>
              </a:defRPr>
            </a:pPr>
            <a:r>
              <a:t>ML Preparation</a:t>
            </a:r>
          </a:p>
          <a:p>
            <a:pPr lvl="1">
              <a:spcAft>
                <a:spcPts val="1200"/>
              </a:spcAft>
              <a:defRPr sz="1600"/>
            </a:pPr>
            <a:r>
              <a:t>4 agents focused on ML readiness (Profile, Quality, Feature, Transform)</a:t>
            </a:r>
          </a:p>
          <a:p>
            <a:pPr>
              <a:defRPr sz="2200" b="1">
                <a:solidFill>
                  <a:srgbClr val="1F77B4"/>
                </a:solidFill>
              </a:defRPr>
            </a:pPr>
            <a:r>
              <a:t>Individual Agent</a:t>
            </a:r>
          </a:p>
          <a:p>
            <a:pPr lvl="1">
              <a:spcAft>
                <a:spcPts val="1200"/>
              </a:spcAft>
              <a:defRPr sz="1600"/>
            </a:pPr>
            <a:r>
              <a:t>Run any single agent on-demand for specific questions</a:t>
            </a:r>
          </a:p>
          <a:p>
            <a:pPr>
              <a:defRPr sz="1800" i="1"/>
            </a:pPr>
            <a:r>
              <a:t>All workflows available WITH or WITHOUT approval gates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Orchestration: LangGraph - State machine workflow management</a:t>
            </a:r>
          </a:p>
          <a:p>
            <a:pPr>
              <a:defRPr sz="1800"/>
            </a:pPr>
            <a:r>
              <a:t>LLM: Groq (Llama 3.1) - Fast LLM inference</a:t>
            </a:r>
          </a:p>
          <a:p>
            <a:pPr>
              <a:defRPr sz="1800"/>
            </a:pPr>
            <a:r>
              <a:t>UI: Streamlit - Interactive web interface</a:t>
            </a:r>
          </a:p>
          <a:p>
            <a:pPr>
              <a:defRPr sz="1800"/>
            </a:pPr>
            <a:r>
              <a:t>Data Processing: Pandas, DuckDB - In-memory and large dataset handling</a:t>
            </a:r>
          </a:p>
          <a:p>
            <a:pPr>
              <a:defRPr sz="1800"/>
            </a:pPr>
            <a:r>
              <a:t>Visualization: Plotly, Seaborn, Matplotlib - Interactive charts</a:t>
            </a:r>
          </a:p>
          <a:p>
            <a:pPr>
              <a:defRPr sz="1800"/>
            </a:pPr>
            <a:r>
              <a:t>Statistics: SciPy, Statsmodels, Scikit-learn - ML prep</a:t>
            </a:r>
          </a:p>
          <a:p>
            <a:pPr>
              <a:defRPr sz="1800"/>
            </a:pPr>
            <a:r>
              <a:t>Persistence: SQLite - State checkpointing</a:t>
            </a:r>
          </a:p>
          <a:p>
            <a:pPr>
              <a:defRPr sz="1800"/>
            </a:pPr>
            <a:r>
              <a:t>File Support: openpyxl - Excel file reading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Export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 b="1"/>
            </a:pPr>
            <a:r>
              <a:t>Multiple Export Formats:</a:t>
            </a:r>
          </a:p>
          <a:p>
            <a:pPr>
              <a:defRPr sz="1800"/>
            </a:pPr>
            <a:r>
              <a:t>📄 HTML Reports - Beautiful, interactive reports with embedded visualizations</a:t>
            </a:r>
          </a:p>
          <a:p>
            <a:pPr>
              <a:defRPr sz="1800"/>
            </a:pPr>
            <a:r>
              <a:t>📊 JSON Data - Complete analysis results in structured format</a:t>
            </a:r>
          </a:p>
          <a:p>
            <a:pPr>
              <a:defRPr sz="1800"/>
            </a:pPr>
            <a:r>
              <a:t>📋 Transformed CSV - Cleaned and transformed dataset for downstream use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Features:</a:t>
            </a:r>
          </a:p>
          <a:p>
            <a:pPr>
              <a:defRPr sz="1800"/>
            </a:pPr>
            <a:r>
              <a:t>• Custom export naming</a:t>
            </a:r>
          </a:p>
          <a:p>
            <a:pPr>
              <a:defRPr sz="1800"/>
            </a:pPr>
            <a:r>
              <a:t>• Timestamp-based organization</a:t>
            </a:r>
          </a:p>
          <a:p>
            <a:pPr>
              <a:defRPr sz="1800"/>
            </a:pPr>
            <a:r>
              <a:t>• Confidence scores and reasoning included</a:t>
            </a:r>
          </a:p>
          <a:p>
            <a:pPr>
              <a:defRPr sz="1800"/>
            </a:pPr>
            <a:r>
              <a:t>• Shareable with stakeholders</a:t>
            </a:r>
          </a:p>
          <a:p>
            <a:pPr>
              <a:defRPr sz="1800"/>
            </a:pPr>
            <a:r>
              <a:t>• API-ready JSON format</a:t>
            </a:r>
          </a:p>
          <a:p>
            <a:pPr>
              <a:defRPr sz="1800"/>
            </a:pPr>
            <a:r>
              <a:t>• Full dataset processing (not just samples)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Use Case: Titanic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400"/>
              </a:spcAft>
              <a:defRPr sz="1600"/>
            </a:pPr>
            <a:r>
              <a:t>1. Upload titanic_train.csv (891 rows, 12 columns)</a:t>
            </a:r>
          </a:p>
          <a:p>
            <a:pPr>
              <a:spcAft>
                <a:spcPts val="400"/>
              </a:spcAft>
              <a:defRPr sz="1600"/>
            </a:pPr>
            <a:r>
              <a:t>2. Run 'Quick Analysis' workflow</a:t>
            </a:r>
          </a:p>
          <a:p>
            <a:pPr>
              <a:spcAft>
                <a:spcPts val="400"/>
              </a:spcAft>
              <a:defRPr sz="1600"/>
            </a:pPr>
            <a:r>
              <a:t>3. Review results in tabbed interface</a:t>
            </a:r>
          </a:p>
          <a:p>
            <a:pPr>
              <a:spcAft>
                <a:spcPts val="400"/>
              </a:spcAft>
              <a:defRPr sz="1600"/>
            </a:pPr>
            <a:r>
              <a:t>4. Navigate to 'Transform' tab</a:t>
            </a:r>
          </a:p>
          <a:p>
            <a:pPr>
              <a:spcAft>
                <a:spcPts val="400"/>
              </a:spcAft>
              <a:defRPr sz="1600"/>
            </a:pPr>
            <a:r>
              <a:t>5. Click 'Select All High Priority' → 3 transformations selected</a:t>
            </a:r>
          </a:p>
          <a:p>
            <a:pPr>
              <a:spcAft>
                <a:spcPts val="400"/>
              </a:spcAft>
              <a:defRPr sz="1600"/>
            </a:pPr>
            <a:r>
              <a:t>6. Preview combined transformations:</a:t>
            </a:r>
          </a:p>
          <a:p>
            <a:pPr>
              <a:spcAft>
                <a:spcPts val="400"/>
              </a:spcAft>
              <a:defRPr sz="1600"/>
            </a:pPr>
            <a:r>
              <a:t>   • Sex becomes Sex_male &amp; Sex_female (one-hot encoding)</a:t>
            </a:r>
          </a:p>
          <a:p>
            <a:pPr>
              <a:spcAft>
                <a:spcPts val="400"/>
              </a:spcAft>
              <a:defRPr sz="1600"/>
            </a:pPr>
            <a:r>
              <a:t>   • Missing Age values filled with median (28)</a:t>
            </a:r>
          </a:p>
          <a:p>
            <a:pPr>
              <a:spcAft>
                <a:spcPts val="400"/>
              </a:spcAft>
              <a:defRPr sz="1600"/>
            </a:pPr>
            <a:r>
              <a:t>   • Cabin column removed (77% missing)</a:t>
            </a:r>
          </a:p>
          <a:p>
            <a:pPr>
              <a:spcAft>
                <a:spcPts val="400"/>
              </a:spcAft>
              <a:defRPr sz="1600"/>
            </a:pPr>
            <a:r>
              <a:t>7. Apply 3 transformations to Full Dataset</a:t>
            </a:r>
          </a:p>
          <a:p>
            <a:pPr>
              <a:spcAft>
                <a:spcPts val="400"/>
              </a:spcAft>
              <a:defRPr sz="1600"/>
            </a:pPr>
            <a:r>
              <a:t>8. Export transformed CSV</a:t>
            </a:r>
          </a:p>
          <a:p>
            <a:pPr>
              <a:spcAft>
                <a:spcPts val="400"/>
              </a:spcAft>
              <a:defRPr sz="1600"/>
            </a:pPr>
            <a:r>
              <a:t>9. Result: 891 rows, 13 columns - ML ready! 🚀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 b="1"/>
            </a:pPr>
            <a:r>
              <a:t>For Small Datasets (&lt; 10k rows)</a:t>
            </a:r>
          </a:p>
          <a:p>
            <a:pPr lvl="1">
              <a:defRPr sz="1400"/>
            </a:pPr>
            <a:r>
              <a:t>Use 'Quick Analysis' for complete overview</a:t>
            </a:r>
          </a:p>
          <a:p>
            <a:pPr lvl="1">
              <a:defRPr sz="1400"/>
            </a:pPr>
            <a:r>
              <a:t>All processing happens in-memory</a:t>
            </a:r>
          </a:p>
          <a:p>
            <a:pPr lvl="1">
              <a:defRPr sz="1400"/>
            </a:pPr>
            <a:r>
              <a:t>Fast execution (~2-5 minutes)</a:t>
            </a:r>
          </a:p>
          <a:p>
            <a:pPr>
              <a:defRPr sz="1800" b="1"/>
            </a:pPr>
            <a:r>
              <a:t>For Large Datasets (&gt; 100k rows)</a:t>
            </a:r>
          </a:p>
          <a:p>
            <a:pPr lvl="1">
              <a:defRPr sz="1400"/>
            </a:pPr>
            <a:r>
              <a:t>System automatically switches to DuckDB backend</a:t>
            </a:r>
          </a:p>
          <a:p>
            <a:pPr lvl="1">
              <a:defRPr sz="1400"/>
            </a:pPr>
            <a:r>
              <a:t>Intelligent sampling for visualization</a:t>
            </a:r>
          </a:p>
          <a:p>
            <a:pPr lvl="1">
              <a:defRPr sz="1400"/>
            </a:pPr>
            <a:r>
              <a:t>Enable progress tracking</a:t>
            </a:r>
          </a:p>
          <a:p>
            <a:pPr>
              <a:defRPr sz="1800" b="1"/>
            </a:pPr>
            <a:r>
              <a:t>For Production Use</a:t>
            </a:r>
          </a:p>
          <a:p>
            <a:pPr lvl="1">
              <a:defRPr sz="1400"/>
            </a:pPr>
            <a:r>
              <a:t>Run Deep Dive Workflow</a:t>
            </a:r>
          </a:p>
          <a:p>
            <a:pPr lvl="1">
              <a:defRPr sz="1400"/>
            </a:pPr>
            <a:r>
              <a:t>Export HTML reports for documentation</a:t>
            </a:r>
          </a:p>
          <a:p>
            <a:pPr lvl="1">
              <a:defRPr sz="1400"/>
            </a:pPr>
            <a:r>
              <a:t>Review confidence scores before acting</a:t>
            </a:r>
          </a:p>
          <a:p>
            <a:pPr lvl="1">
              <a:defRPr sz="1400"/>
            </a:pPr>
            <a:r>
              <a:t>Use transformed CSV for downstream processing</a:t>
            </a:r>
          </a:p>
          <a:p>
            <a:pPr>
              <a:defRPr sz="1800" b="1"/>
            </a:pPr>
            <a:r>
              <a:t>For ML Projects</a:t>
            </a:r>
          </a:p>
          <a:p>
            <a:pPr lvl="1">
              <a:defRPr sz="1400"/>
            </a:pPr>
            <a:r>
              <a:t>Use ML Preparation workflow</a:t>
            </a:r>
          </a:p>
          <a:p>
            <a:pPr lvl="1">
              <a:defRPr sz="1400"/>
            </a:pPr>
            <a:r>
              <a:t>Review FeatureAgent recommendations</a:t>
            </a:r>
          </a:p>
          <a:p>
            <a:pPr lvl="1">
              <a:defRPr sz="1400"/>
            </a:pPr>
            <a:r>
              <a:t>Check StatAgent for distribution assumptions</a:t>
            </a:r>
          </a:p>
          <a:p>
            <a:pPr lvl="1">
              <a:defRPr sz="1400"/>
            </a:pPr>
            <a:r>
              <a:t>Apply and export transformations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 b="1"/>
            </a:pPr>
            <a:r>
              <a:t>Planned Enhancements:</a:t>
            </a:r>
          </a:p>
          <a:p>
            <a:pPr>
              <a:defRPr sz="1800"/>
            </a:pPr>
            <a:r>
              <a:t>Additional agent types (time series, text analysis)</a:t>
            </a:r>
          </a:p>
          <a:p>
            <a:pPr>
              <a:defRPr sz="1800"/>
            </a:pPr>
            <a:r>
              <a:t>More export formats (PDF, Excel workbooks)</a:t>
            </a:r>
          </a:p>
          <a:p>
            <a:pPr>
              <a:defRPr sz="1800"/>
            </a:pPr>
            <a:r>
              <a:t>Advanced visualizations (3D plots, interactive dashboards)</a:t>
            </a:r>
          </a:p>
          <a:p>
            <a:pPr>
              <a:defRPr sz="1800"/>
            </a:pPr>
            <a:r>
              <a:t>Performance optimizations for very large datasets</a:t>
            </a:r>
          </a:p>
          <a:p>
            <a:pPr>
              <a:defRPr sz="1800"/>
            </a:pPr>
            <a:r>
              <a:t>Custom workflow builder UI</a:t>
            </a:r>
          </a:p>
          <a:p>
            <a:pPr>
              <a:defRPr sz="1800"/>
            </a:pPr>
            <a:r>
              <a:t>Cloud deployment options</a:t>
            </a:r>
          </a:p>
          <a:p>
            <a:pPr>
              <a:defRPr sz="1800"/>
            </a:pPr>
            <a:r>
              <a:t>API endpoints for programmatic access</a:t>
            </a:r>
          </a:p>
          <a:p>
            <a:pPr>
              <a:defRPr sz="1800"/>
            </a:pPr>
            <a:r>
              <a:t>Integration with popular ML platforms</a:t>
            </a:r>
          </a:p>
          <a:p>
            <a:pPr>
              <a:defRPr sz="1800"/>
            </a:pPr>
            <a:r>
              <a:t>Collaborative features (team workspaces)</a:t>
            </a:r>
          </a:p>
          <a:p>
            <a:pPr>
              <a:defRPr sz="1800"/>
            </a:pPr>
            <a:r>
              <a:t>Scheduled/automated analysis runs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400" b="1"/>
            </a:pPr>
            <a:r>
              <a:t>Key Takeaways:</a:t>
            </a:r>
          </a:p>
          <a:p>
            <a:pPr>
              <a:spcAft>
                <a:spcPts val="800"/>
              </a:spcAft>
              <a:defRPr sz="1800"/>
            </a:pPr>
            <a:r>
              <a:t>✓ Production-ready EDA pipeline with AI-powered agents</a:t>
            </a:r>
          </a:p>
          <a:p>
            <a:pPr>
              <a:spcAft>
                <a:spcPts val="800"/>
              </a:spcAft>
              <a:defRPr sz="1800"/>
            </a:pPr>
            <a:r>
              <a:t>✓ Comprehensive analysis with 6 specialized agents</a:t>
            </a:r>
          </a:p>
          <a:p>
            <a:pPr>
              <a:spcAft>
                <a:spcPts val="800"/>
              </a:spcAft>
              <a:defRPr sz="1800"/>
            </a:pPr>
            <a:r>
              <a:t>✓ Human-in-the-loop control with approval gates</a:t>
            </a:r>
          </a:p>
          <a:p>
            <a:pPr>
              <a:spcAft>
                <a:spcPts val="800"/>
              </a:spcAft>
              <a:defRPr sz="1800"/>
            </a:pPr>
            <a:r>
              <a:t>✓ Flexible workflows for different use cases</a:t>
            </a:r>
          </a:p>
          <a:p>
            <a:pPr>
              <a:spcAft>
                <a:spcPts val="800"/>
              </a:spcAft>
              <a:defRPr sz="1800"/>
            </a:pPr>
            <a:r>
              <a:t>✓ Excel and CSV support with intelligent scaling</a:t>
            </a:r>
          </a:p>
          <a:p>
            <a:pPr>
              <a:spcAft>
                <a:spcPts val="800"/>
              </a:spcAft>
              <a:defRPr sz="1800"/>
            </a:pPr>
            <a:r>
              <a:t>✓ Complete export capabilities for sharing and downstream use</a:t>
            </a:r>
          </a:p>
          <a:p>
            <a:pPr>
              <a:spcAft>
                <a:spcPts val="800"/>
              </a:spcAft>
              <a:defRPr sz="1800"/>
            </a:pPr>
            <a:r>
              <a:t>✓ Explainable AI with confidence scores and reasoning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🚀 Ready to accelerate your data analysis workflow!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5400" b="1">
                <a:solidFill>
                  <a:srgbClr val="1F77B4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/>
            </a:pPr>
            <a:r>
              <a:t>Questions?</a:t>
            </a:r>
            <a:br/>
            <a:br/>
            <a:r>
              <a:t>EDA Pipeline - Version 3.3</a:t>
            </a:r>
            <a:br/>
            <a:r>
              <a:t>July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